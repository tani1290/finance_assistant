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0"/>
          </a:solidFill>
          <a:ln>
            <a:solidFill>
              <a:srgbClr val="18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DF8"/>
                </a:solidFill>
              </a:defRPr>
            </a:pPr>
            <a:r>
              <a:t>FinPro: AI-Powered Personal Financial Planner</a:t>
            </a:r>
          </a:p>
          <a:p>
            <a:pPr>
              <a:spcBef>
                <a:spcPts val="1200"/>
              </a:spcBef>
              <a:defRPr sz="1800">
                <a:solidFill>
                  <a:srgbClr val="7FD1CF"/>
                </a:solidFill>
              </a:defRPr>
            </a:pPr>
            <a:r>
              <a:t>Grounded Financial Intelligence, Real-Time Market Integration &amp; Robo-Advisory for Indian Retail Investors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560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85D26"/>
                </a:solidFill>
              </a:defRPr>
            </a:pPr>
            <a:r>
              <a:t>PROJECT TEAM &amp; ROLL NUMBERS (ACADEMIC YEAR 2026–2027)</a:t>
            </a:r>
          </a:p>
          <a:p>
            <a:pPr>
              <a:spcBef>
                <a:spcPts val="400"/>
              </a:spcBef>
              <a:defRPr sz="1300">
                <a:solidFill>
                  <a:srgbClr val="FFFDF8"/>
                </a:solidFill>
              </a:defRPr>
            </a:pPr>
            <a:r>
              <a:t>• 31232127 — Tanishq Agrawal</a:t>
            </a:r>
          </a:p>
          <a:p>
            <a:pPr>
              <a:spcBef>
                <a:spcPts val="400"/>
              </a:spcBef>
              <a:defRPr sz="1300">
                <a:solidFill>
                  <a:srgbClr val="FFFDF8"/>
                </a:solidFill>
              </a:defRPr>
            </a:pPr>
            <a:r>
              <a:t>• 31230035 — Jinay Golecha</a:t>
            </a:r>
          </a:p>
          <a:p>
            <a:pPr>
              <a:spcBef>
                <a:spcPts val="400"/>
              </a:spcBef>
              <a:defRPr sz="1300">
                <a:solidFill>
                  <a:srgbClr val="FFFDF8"/>
                </a:solidFill>
              </a:defRPr>
            </a:pPr>
            <a:r>
              <a:t>• 31232021 — Partha Nallelu</a:t>
            </a:r>
          </a:p>
          <a:p>
            <a:pPr>
              <a:spcBef>
                <a:spcPts val="400"/>
              </a:spcBef>
              <a:defRPr sz="1300">
                <a:solidFill>
                  <a:srgbClr val="FFFDF8"/>
                </a:solidFill>
              </a:defRPr>
            </a:pPr>
            <a:r>
              <a:t>• 31231521 — Diksha Choraghe</a:t>
            </a:r>
          </a:p>
          <a:p>
            <a:pPr>
              <a:spcBef>
                <a:spcPts val="400"/>
              </a:spcBef>
              <a:defRPr sz="1300">
                <a:solidFill>
                  <a:srgbClr val="FFFDF8"/>
                </a:solidFill>
              </a:defRPr>
            </a:pPr>
            <a:r>
              <a:t>• 31231787 — Parth Hande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02 — PROBLEM STATEMENT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The Triple Crisis in Retail Financial Decision 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7D7C"/>
                </a:solidFill>
              </a:defRPr>
            </a:pPr>
            <a:r>
              <a:t>100M+ Demat Accounts</a:t>
            </a:r>
          </a:p>
          <a:p>
            <a:pPr>
              <a:spcBef>
                <a:spcPts val="800"/>
              </a:spcBef>
              <a:defRPr sz="1300">
                <a:solidFill>
                  <a:srgbClr val="475467"/>
                </a:solidFill>
              </a:defRPr>
            </a:pPr>
            <a:r>
              <a:t>Massive retail participant influx into Indian markets post-2020.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D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85D26"/>
                </a:solidFill>
              </a:defRPr>
            </a:pPr>
            <a:r>
              <a:t>76% Illiteracy Rate</a:t>
            </a:r>
          </a:p>
          <a:p>
            <a:pPr>
              <a:spcBef>
                <a:spcPts val="800"/>
              </a:spcBef>
              <a:defRPr sz="1300">
                <a:solidFill>
                  <a:srgbClr val="475467"/>
                </a:solidFill>
              </a:defRPr>
            </a:pPr>
            <a:r>
              <a:t>SEBI &amp; RBI surveys reveal acute gaps in risk &amp; debt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18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2230"/>
                </a:solidFill>
              </a:defRPr>
            </a:pPr>
            <a:r>
              <a:t>Zero Unified OS</a:t>
            </a:r>
          </a:p>
          <a:p>
            <a:pPr>
              <a:spcBef>
                <a:spcPts val="800"/>
              </a:spcBef>
              <a:defRPr sz="1300">
                <a:solidFill>
                  <a:srgbClr val="475467"/>
                </a:solidFill>
              </a:defRPr>
            </a:pPr>
            <a:r>
              <a:t>Investments, loans, and budgets remain siloed in fragmented apps.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3EDE1"/>
          </a:solidFill>
          <a:ln w="19050">
            <a:solidFill>
              <a:srgbClr val="D85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D85D26"/>
                </a:solidFill>
              </a:defRPr>
            </a:pPr>
            <a:r>
              <a:t>❌ Existing Tooling Pitfalls</a:t>
            </a:r>
          </a:p>
          <a:p>
            <a:pPr>
              <a:defRPr sz="1300">
                <a:solidFill>
                  <a:srgbClr val="182230"/>
                </a:solidFill>
              </a:defRPr>
            </a:pPr>
            <a:r>
              <a:t>• Western bias (401k, USD equities)</a:t>
            </a:r>
          </a:p>
          <a:p>
            <a:pPr>
              <a:defRPr sz="1300">
                <a:solidFill>
                  <a:srgbClr val="182230"/>
                </a:solidFill>
              </a:defRPr>
            </a:pPr>
            <a:r>
              <a:t>• Generic LLMs hallucinate numbers</a:t>
            </a:r>
          </a:p>
          <a:p>
            <a:pPr>
              <a:defRPr sz="1300">
                <a:solidFill>
                  <a:srgbClr val="182230"/>
                </a:solidFill>
              </a:defRPr>
            </a:pPr>
            <a:r>
              <a:t>• Opaque black-box risk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D7D7C"/>
                </a:solidFill>
              </a:defRPr>
            </a:pPr>
            <a:r>
              <a:t>✔ FinPro Grounded Solution</a:t>
            </a:r>
          </a:p>
          <a:p>
            <a:pPr>
              <a:defRPr sz="1300">
                <a:solidFill>
                  <a:srgbClr val="182230"/>
                </a:solidFill>
              </a:defRPr>
            </a:pPr>
            <a:r>
              <a:t>• India-native (NSE/BSE, MCX Gold, INR)</a:t>
            </a:r>
          </a:p>
          <a:p>
            <a:pPr>
              <a:defRPr sz="1300">
                <a:solidFill>
                  <a:srgbClr val="182230"/>
                </a:solidFill>
              </a:defRPr>
            </a:pPr>
            <a:r>
              <a:t>• Gemini Flash grounded strictly in ledger</a:t>
            </a:r>
          </a:p>
          <a:p>
            <a:pPr>
              <a:defRPr sz="1300">
                <a:solidFill>
                  <a:srgbClr val="182230"/>
                </a:solidFill>
              </a:defRPr>
            </a:pPr>
            <a:r>
              <a:t>• Transparent 10-Factor Health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03 — ACADEMIC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Literature Survey: 22 Papers Across 5 Core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Domain 1: Financial LLMs &amp; NLP (6 Papers, 27%)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BloombergGPT (50B), FinGPT (LoRA), MarketSenseAI (GPT-4 Alpha), Du et 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Domain 2: Stock Market Prediction (4 Papers, 18%)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Gu et al. (Charting by Machines, JFE), Wang et al. (Two-Stage LSTM+Mean-CVaR, ESWA)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Domain 3 &amp; 4: Robo-Advisory &amp; Cloud Security (8 Papers, 36%)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Rossi &amp; Utkus (Vanguard empirical study, JFE), Rai &amp; Thakkar (IEEE SCOReD), Banerjee (SEM India)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04 — KEY LITERATURE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Empirical Findings That Shape FinPro's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Grounded RAG vs. 50B Pretraining (FinGPT, Yang et al.)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LoRA fine-tuning &amp; ledger-injected RAG match 50B domain model accuracy at &lt;1% training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Novice Welfare Gains (Rossi &amp; Utkus 2024, Vanguard)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Robo-advisory provides the highest Sharpe ratio enhancement for previously unhedged novice retail investors.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Indian Adoption Determinants (Banerjee 2025, SEM N=387)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Technology readiness &amp; financial literacy drive adoption; solved via transparent factor scoring and educational tooltips.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05 — CRITICAL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8 Systematic Gaps Identified Across Current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Gap 1 (Critical): Absence of End-to-End Retail OS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Literature discusses NLP, prediction, and robo-advisory in silos. FinPro is the first complete unified 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Gap 2 (High): Underrepresentation of Indian Market Mechanics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Existing tools omit NSE/BSE stocks, MCX 24K/22K Gold, Silver in INR, SIPs, and Lakhs/Crores math.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Gap 3 &amp; 7: Explainability &amp; Cybersecurity Deficit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FinPro replaces opaque scores with a transparent 10-factor model, JWT auth, and strict multi-tenant isolation.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06 — LAYERED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4-Tier Full-Stack Production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Tier 1 &amp; 2: Presentation &amp; Gateway Security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Vanilla JS Single Page Application (sub-100ms load) + Node.js 22 LTS Express API Gateway with Helmet &amp; JWT.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Tier 3 &amp; 4: Business Logic &amp; Relational Persistence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Google Gemini Flash (Context RAG) + Financial Twin Engine + PostgreSQL 17 DB with 28 Prisma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07 — LAYER-WISE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4-Tier Layer-Wise Software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Layer 1 · Presentation &amp; Layer 2 · Gateway Security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Vanilla JS ES6+ SPA (Apache ECharts, Voice &amp; OCR Vision) ➔ Node.js 22 Express API Gateway (Dual JWT HS256, Helmet, Rate Limiter).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Layer 3 · Business AI Logic &amp; Layer 4 · Data Persistence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Financial Twin Engine (10-Factor Health + Predictor) + Gemini 1.5 Flash Grounded RAG ➔ PostgreSQL 17 DB (28 Prisma Models, Decimal precision, Docker cloud).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08 — PROJECT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FINPRO — Project Gantt Chart (Jul – Dec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926079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2651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Structured 6-Phase Development Schedule &amp; Status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1. Requirement &amp; Literature Study (July 2026): COMPLETED [Weeks 1–4]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2. System &amp; Cloud Architecture (July–August 2026): COMPLETED [Weeks 3–8]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3. Full-Stack Application Development (August–September 2026): IN PROGRESS [Weeks 5–11]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4. AI, Finance &amp; Data Features (September–October 2026): IN PROGRESS [Weeks 9–15]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5. Cloud Deployment, CI/CD &amp; Testing (October–November 2026): NOT STARTED [Weeks 13–20]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6. Final Testing, Docs &amp; Presentation (December 2026): NOT STARTED [Weeks 21–24]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79"/>
            <a:ext cx="10728655" cy="164592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39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Project Stack &amp; Team Responsibilities (Today: 11 Sep 2026)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Stack: Node.js • Express • PostgreSQL • Prisma • Docker • GCP Cloud Run • GitHub Actions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Team: Tanishq Agrawal (AI), Jinay Golecha (Twin), Partha Nallelu (DB), Diksha Choraghe (UI), Parth Hande (Feeds)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09 — FEASIBILITY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4-Pillar Engineering Feasibility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64592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Technical &amp; Economic Feasibility (98% / 95%)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Technical: Node.js 22 LTS, PostgreSQL 17, Prisma ORM, Gemini 1.5 Flash RAG, OCR &amp; Web Speech APIs.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Economic: GCP Cloud Run serverless scale-to-zero container hosting ($0 idle cost) + ~$0.0001 per AI 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28655" cy="164592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Operational, Legal &amp; Security Feasibility (96% / 94%)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Operational: Hands-free voice logs, OCR receipt scanning &amp; SMS parsing for low-friction adoption.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Legal &amp; Security: AES-256 encryption, strict tenant isolation, SEBI non-fiduciary disclaimers &amp; 66/66 Jest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10 — 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Cloud-Native Infrastructure &amp; Serverless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Docker Containerization &amp; Multi-Stage Alpine Builds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Immutable node:22-alpine Docker containers (180MB footprint) for zero environment drift.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Serverless Auto-Scaling (GCP Cloud Run / AWS ECS)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Scales automatically from 0 to 100+ container instances during volatility spikes with zero idle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Managed Cloud Database-as-a-Service (DBaaS)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PostgreSQL 17 on Supabase / Cloud SQL with SSL connection pooling, automated backups &amp; point-in-time recovery.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11 — CLOUD DEVOPS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Cloud Object Storage, AIaaS &amp; Automated CI/CD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Cloud Object Storage (AWS S3 / GCP Cloud Storage)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Receipt images for Tesseract OCR stored in encrypted cloud buckets using 15-min pre-signed temporary URLs.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Cloud AI Inference (Google Cloud Vertex AI)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Low-latency Gemini Flash REST/gRPC endpoints with strict JSON Schema output enforcement.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Automated GitHub Actions CI/CD Pipeline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.github/workflows/deploy.yml runs secret audits, Jest tests, Docker build &amp; zero-downtime cloud deploy.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12 —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The Financial Twin Engine &amp; 10-Factor Health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10-Factor Algorithmic Health Engine (0–100 Scale)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Computes Savings Rate, Emergency Runway (6m), DTI (&lt;35%), Goal Velocity, Credit Utilization &amp; Anomaly Frequency.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30 &amp; 90-Day Cash Flow Predictor &amp; What-If Simulator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Forecasts future bank balances and models SIP compounding across 8%, 12%, and 15% growth regimes.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13 — AI ADVISORY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Audited Context RAG vs. Dangerous Hallucinations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Audited Ledger Injection (Gemini Flash RAG)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Prepends verified Net Worth, Liquid Cash, Monthly Burn, DTI, and 10-Factor Score directly into prompt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Factual System Guardrails &amp; Deterministic Fallback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Gemini forbidden from inventing numbers outside injected JSON. Fallback rule engine fires if quotas exhausted.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14 — MARKET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Real-Time Equity &amp; Commodity Feed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NSE/BSE Equities &amp; Precious Metals in INR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Live quotes via Alpha Vantage + Finnhub; COMEX continuous Gold (GC=F) &amp; Silver spot converted dynamically to INR/g.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Zero Synthetic Data &amp; Sub-Second Cache Map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Explicit provider status (LIVE/CACHED/STALE). 3-min TTL for quotes, 15-min for charts prevents rate-limit exhaustion.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15 — MULTIMODAL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Frictionless Ingestion Across Five Modalities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Web Speech Voice &amp; Tesseract OCR Receipt Ingestion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Spoken expense logging &amp; receipt image scanning with mandatory safety confirmation modals.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50/30/20 Budgets &amp; PCI-Compliant Credit Card Tracking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Needs/Wants/Savings splits + masked card management (•••• 4321) with zero full PAN or CVV storage.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16 — USER JOURNEY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5-Step Workflow from Ingestion to Financial Freedom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Step 1 &amp; 2: Onboarding &amp; Multi-Modal Ingestion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3-step baseline survey establishes DTI; voice, OCR, or atomic bank sync ingests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Step 3, 4 &amp; 5: Evaluation, Cash Flow Prediction &amp; AI Advice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Financial Twin scores metrics, cash flow predictor models upcoming debits, and Gemini Flash provides fiduciary advice.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solidFill>
              <a:srgbClr val="FA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7D7C"/>
                </a:solidFill>
              </a:defRPr>
            </a:pPr>
            <a:r>
              <a:t>17 — 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0"/>
                </a:solidFill>
              </a:defRPr>
            </a:pPr>
            <a:r>
              <a:t>Prototype Ready Today, Evolving Tomorrow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Current Production Status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Prototype-ready full-stack system with Node.js 22 LTS, PostgreSQL 17, Gemini Flash &amp; Docker containerization.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3258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D7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7D7C"/>
                </a:solidFill>
              </a:defRPr>
            </a:pPr>
            <a:r>
              <a:t>Future Roadmap &amp; Frontiers</a:t>
            </a:r>
          </a:p>
          <a:p>
            <a:pPr>
              <a:spcBef>
                <a:spcPts val="300"/>
              </a:spcBef>
              <a:defRPr sz="1300">
                <a:solidFill>
                  <a:srgbClr val="182230"/>
                </a:solidFill>
              </a:defRPr>
            </a:pPr>
            <a:r>
              <a:t>• Automated Bank SMS / Text Message Parser, Multilingual Support (Hindi, Marathi, Gujarati) &amp; SEBI Sandbox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